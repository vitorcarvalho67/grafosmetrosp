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projeto de Comunicação e Redes. Modelamos a malha metroferroviária de São Paulo como grafo e a comparamos com Londres e Nova York. ~15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malha é fortemente radial: praticamente todo trajeto entre regiões passa pelo centro, o que transforma Luz e Brás em gargalos. Não é small-world nem scale-free no espaço 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rede resiste a falhas difusas, mas é muito vulnerável à perda simultânea de poucas estações de alta centralidade — implicação direta para planos de contingência.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modularidade recupera regiões geográficas e mostra um gradiente de acessibilidade do centro à periferia — a conhecida concentração radial, quantificada.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Modelamos Londres e NY do mesmo modo. Validação: nosso rT bate com Derrible para SP e Londres. NY foi modelada por serviços (inflaciona redundância). Achado: SP é a única fora do regime small-world.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Custos estimados por obras análogas: metrô subterrâneo ~R$1,18 bi/km (Linha 6), monotrilho ~R$0,89 bi/km (Linha 17). A orbital 20-Rosa custaria ~R$37 bi, mas é a que mais melhora a conectividade por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Separação clara de responsabilidades técnicas: NetworkX calcula todas as métricas reportadas no artigo (centralidade, eficiência, comunidades, small-world, robustez), e Three.js/WebGL constrói a camada de visualização interativa no navegador. Tudo versionado e disponível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slides_img/hero_glob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0"/>
            <a:ext cx="60624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0A1024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DOS GRAFOS · UFABC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6766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da Malha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Metroferroviária de São Paulo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361188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análise via Teoria dos Grafos — e a comparação com Londres e Nova York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75488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Vitor Eduardo Silva de Carvalho   ·   Diego Naoki Sato Hanashiro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Vitor Ribeiro Pereira   ·   Joaquim Argolo Valente de Azambuja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 Redes · BC&amp;T · UFABC · 2026.Q2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estudar a malha como um grafo?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 km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integrada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80360" y="160020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7830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880360" y="24871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(Metrô + CPTM)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212080" y="160020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7830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212080" y="24871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estações em 2026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rede sobre trilhos do Brasil — mas raramente estudada sob a ótica formal da teoria dos grafos. Modelá-la revela onde estão os gargalos e o que mais a fortaleceria.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" y="4617720"/>
            <a:ext cx="310896" cy="310896"/>
          </a:xfrm>
          <a:prstGeom prst="ellipse">
            <a:avLst/>
          </a:prstGeom>
          <a:solidFill>
            <a:srgbClr val="35D0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24128" y="459028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a malha como grafo e caracterizar sua topologia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5093208"/>
            <a:ext cx="310896" cy="310896"/>
          </a:xfrm>
          <a:prstGeom prst="ellipse">
            <a:avLst/>
          </a:prstGeom>
          <a:solidFill>
            <a:srgbClr val="35D0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24128" y="506577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estações críticas e medir a robustez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5568696"/>
            <a:ext cx="310896" cy="310896"/>
          </a:xfrm>
          <a:prstGeom prst="ellipse">
            <a:avLst/>
          </a:prstGeom>
          <a:solidFill>
            <a:srgbClr val="35D0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24128" y="554126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São Paulo com Londres e Nova York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6044184"/>
            <a:ext cx="310896" cy="310896"/>
          </a:xfrm>
          <a:prstGeom prst="ellipse">
            <a:avLst/>
          </a:prstGeom>
          <a:solidFill>
            <a:srgbClr val="35D0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044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24128" y="601675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impacto da Linha 6 e de linhas futuras</a:t>
            </a:r>
            <a:endParaRPr lang="en-US" sz="1400" dirty="0"/>
          </a:p>
        </p:txBody>
      </p:sp>
      <p:pic>
        <p:nvPicPr>
          <p:cNvPr id="27" name="Image 0" descr="/tmp/work/slides_img/hero_glob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1600200"/>
            <a:ext cx="4114800" cy="41148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680960" y="5779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malhas do estudo no globo (SP, Londres, NY).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rede ao grafo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L — infraestrutura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 = estação · Aresta = trecho direto entre estações consecutivas. Estações de baldeação viram um único vértice de grau maior.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P — experiência de viagem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estações são vizinhas se estão na mesma linha; a distância conta baldeações.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2702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47640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estações (N)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416052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42702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47640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trechos (M)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30352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4132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85800" y="59070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médio ⟨k⟩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530352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54132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566160" y="59070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médio 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47688" y="1664208"/>
            <a:ext cx="5084064" cy="2615184"/>
          </a:xfrm>
          <a:prstGeom prst="roundRect">
            <a:avLst>
              <a:gd name="adj" fmla="val 2797"/>
            </a:avLst>
          </a:prstGeom>
          <a:solidFill>
            <a:srgbClr val="FCFCFB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0" descr="/tmp/work/slides_img/hero_red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737360"/>
            <a:ext cx="4937760" cy="24688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720840" y="4343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modelada — São Paulo, Londres e Nova York em suas coordenadas geográficas.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medimos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457200" cy="457200"/>
          </a:xfrm>
          <a:prstGeom prst="ellipse">
            <a:avLst/>
          </a:prstGeom>
          <a:solidFill>
            <a:srgbClr val="35D0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947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&amp; eficiência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grau P(k) e eficiência global E_glob.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947672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3792" y="1947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Centralidade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81144" y="25603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Intermediação e proximidade — quais estações são mais centrais.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69164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0184" y="1947672"/>
            <a:ext cx="457200" cy="4572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0264" y="1947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57616" y="25603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Modularidade Q (Louvain) — regiões da malha.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096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pequeno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04672" y="47091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σ vs. grafos aleatórios equivalentes.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25112" y="384048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3712" y="4096512"/>
            <a:ext cx="457200" cy="457200"/>
          </a:xfrm>
          <a:prstGeom prst="ellipse">
            <a:avLst/>
          </a:prstGeom>
          <a:solidFill>
            <a:srgbClr val="E34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4096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81144" y="47091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aleatórias vs. ataques dirigidos S(f).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01584" y="384048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0184" y="4096512"/>
            <a:ext cx="457200" cy="457200"/>
          </a:xfrm>
          <a:prstGeom prst="ellipse">
            <a:avLst/>
          </a:prstGeom>
          <a:solidFill>
            <a:srgbClr val="FFC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70264" y="4096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Redundância r_T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57616" y="47091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Derrible &amp; Kennedy = ciclos por estação.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calculado com NetworkX, de forma reprodutível (código e dados versionados).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· ESTRUTURA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Radial, dominada por Luz e Brás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81928" y="1527048"/>
            <a:ext cx="5541264" cy="3758184"/>
          </a:xfrm>
          <a:prstGeom prst="roundRect">
            <a:avLst>
              <a:gd name="adj" fmla="val 1946"/>
            </a:avLst>
          </a:prstGeom>
          <a:solidFill>
            <a:srgbClr val="FCFCFB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tmp/work/slides_img/fig_hubs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600200"/>
            <a:ext cx="539496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737360"/>
            <a:ext cx="128016" cy="12801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livre de escala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194767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das estações têm grau 2; sem cauda longa.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2788920"/>
            <a:ext cx="128016" cy="12801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651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mundo pequeno (σ = 0,51)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299923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espaço L — é uma rede espacial quase-planar.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3840480"/>
            <a:ext cx="128016" cy="12801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703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e Brás concentram os fluxos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40507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intermediação ≈ 0,44: quase metade dos caminhos.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4360" y="4892040"/>
            <a:ext cx="128016" cy="12801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4754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articulação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68680" y="510235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estações de grau 2 (Juventus-Mooca) que isolam ramais.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· ROBUSTEZ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Frágil a ataques dirigidos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190488" y="1664208"/>
            <a:ext cx="5632704" cy="3529584"/>
          </a:xfrm>
          <a:prstGeom prst="roundRect">
            <a:avLst>
              <a:gd name="adj" fmla="val 2073"/>
            </a:avLst>
          </a:prstGeom>
          <a:solidFill>
            <a:srgbClr val="FCFCFB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tmp/work/slides_img/fig_robustez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737360"/>
            <a:ext cx="548640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8288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194560" y="1874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estações removidas por ataque (≈4 estações centrais) já derrubam a maior componente de 100% para 57%.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94360" y="3291840"/>
            <a:ext cx="5440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aleatória: degradação gradual (a 10% removido, ainda 56%).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dirigido: colapso abrupto — a 4%, a maior componente cai a 19%.</a:t>
            </a:r>
            <a:endParaRPr lang="en-US" sz="14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 integrada: 0,15 (falha) vs. 0,04 (ataque).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· TERRITÓRIO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não é homogênea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27648" y="1527048"/>
            <a:ext cx="5495544" cy="4169664"/>
          </a:xfrm>
          <a:prstGeom prst="roundRect">
            <a:avLst>
              <a:gd name="adj" fmla="val 1754"/>
            </a:avLst>
          </a:prstGeom>
          <a:solidFill>
            <a:srgbClr val="FCFCFB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tmp/work/slides_img/fig_regioes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600200"/>
            <a:ext cx="534924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(Louvain), Q = 0,81 — com claro sentido geográfico.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2×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8640" y="406908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centro expandido (Luz, Brás, República, Barra Funda) é cerca de duas vezes mais acessível que a periferia (sul, oeste, leste).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× Londres × Nova York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527048"/>
            <a:ext cx="6729984" cy="3438144"/>
          </a:xfrm>
          <a:prstGeom prst="roundRect">
            <a:avLst>
              <a:gd name="adj" fmla="val 2128"/>
            </a:avLst>
          </a:prstGeom>
          <a:solidFill>
            <a:srgbClr val="FCFCFB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tmp/work/slides_img/hero_red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658368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645920"/>
            <a:ext cx="4434840" cy="914400"/>
          </a:xfrm>
          <a:prstGeom prst="roundRect">
            <a:avLst>
              <a:gd name="adj" fmla="val 12000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43800" y="1645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0" y="164592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0,51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360920" y="2697480"/>
            <a:ext cx="4434840" cy="914400"/>
          </a:xfrm>
          <a:prstGeom prst="roundRect">
            <a:avLst>
              <a:gd name="adj" fmla="val 12000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26974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Londres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01200" y="269748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1,86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360920" y="3749040"/>
            <a:ext cx="4434840" cy="914400"/>
          </a:xfrm>
          <a:prstGeom prst="roundRect">
            <a:avLst>
              <a:gd name="adj" fmla="val 12000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43800" y="3749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York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601200" y="37490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3,14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48640" y="5074920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é a única das três com σ &lt; 1 — a única que não é uma rede de mundo pequeno. É a mais esparsa, radial e menos redundante (rT 0,08, junto de Berlim; longe de Paris e Tóquio).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mais ajudaria a malha?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6-Laranja (radial)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+0,6%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eficiência global — ganho modesto; seu valor é de cobertura (633 mil pax/dia).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1B25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20-Rosa (orbital)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+2,1%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0" y="3063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que o triplo — cria atalhos entre eixos que hoje só se ligam pelo centro.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109960" cy="1874520"/>
          </a:xfrm>
          <a:prstGeom prst="roundRect">
            <a:avLst>
              <a:gd name="adj" fmla="val 5854"/>
            </a:avLst>
          </a:prstGeom>
          <a:solidFill>
            <a:srgbClr val="14203A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central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déficit estrutural de São Paulo não é a falta de mais raios — é a ausência de linhas circulares que interliguem os eixos radiais e aliviem o centro.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topologia revela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960120"/>
          </a:xfrm>
          <a:prstGeom prst="roundRect">
            <a:avLst>
              <a:gd name="adj" fmla="val 11429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457200" cy="457200"/>
          </a:xfrm>
          <a:prstGeom prst="ellipse">
            <a:avLst/>
          </a:prstGeom>
          <a:solidFill>
            <a:srgbClr val="35D0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1051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Esparsa e radial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0" y="1810512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⟨k⟩=2,15; nem livre de escala, nem mundo pequeno no espaço 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109960" cy="960120"/>
          </a:xfrm>
          <a:prstGeom prst="roundRect">
            <a:avLst>
              <a:gd name="adj" fmla="val 11429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44952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90779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Dependente de poucas estações centrais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69280" y="2907792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e Brás concentram os fluxos; frágil a ataques dirigidos.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109960" cy="960120"/>
          </a:xfrm>
          <a:prstGeom prst="roundRect">
            <a:avLst>
              <a:gd name="adj" fmla="val 11429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42232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00507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menos redundante das três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69280" y="4005072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lado de Berlim; Londres e NY são mais densas e malhadas.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109960" cy="960120"/>
          </a:xfrm>
          <a:prstGeom prst="roundRect">
            <a:avLst>
              <a:gd name="adj" fmla="val 11429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239512"/>
            <a:ext cx="457200" cy="4572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10235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salto: linhas circulares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669280" y="5102352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orbital ajuda ~3× mais que novos raios.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construímos — análise e visualização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794760"/>
          </a:xfrm>
          <a:prstGeom prst="roundRect">
            <a:avLst>
              <a:gd name="adj" fmla="val 2892"/>
            </a:avLst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· Python + NetworkX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6771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grafo (espaços L e P) e todas as métricas do artigo foram calculados com NetworkX: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5074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betweenness_centrality — Luz e Brás como pontos críticos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global_efficiency · average_shortest_path_length — E_glob e L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(Louvain) — modularidade Q e as 15 regiões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gnm_random_graph — índice de mundo pequeno σ</a:t>
            </a:r>
            <a:endParaRPr lang="en-US" sz="12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connected_components — robustez sob falha e ataque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86400" cy="3794760"/>
          </a:xfrm>
          <a:prstGeom prst="roundRect">
            <a:avLst>
              <a:gd name="adj" fmla="val 2892"/>
            </a:avLst>
          </a:prstGeom>
          <a:solidFill>
            <a:srgbClr val="1B25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· Three.js / WebGL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6771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 interativos, no navegador, para explorar os resultados: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926080"/>
            <a:ext cx="5074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3D force-directed da malha, navegável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Explorador: resultados, mapa de calor e planejador de rota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lado a lado das três malhas</a:t>
            </a:r>
            <a:endParaRPr lang="en-US" sz="12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Globo 3D com São Paulo, Londres e Nova York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623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faz toda a parte quantitativa; Three.js/WebGL, a camada interativa — tudo reprodutível e versionado.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slides_img/hero_glob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0"/>
            <a:ext cx="60624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A1024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22860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291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2976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3D interativa e código: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github.com/VitorCarvalho67/GrafosMetroSP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metro-sp.solveweb.com.br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2026-07-30T21:51:55Z</dcterms:created>
  <dcterms:modified xsi:type="dcterms:W3CDTF">2026-07-30T21:51:55Z</dcterms:modified>
</cp:coreProperties>
</file>