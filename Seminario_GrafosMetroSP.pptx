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projeto de Comunicação e Redes. Modelamos a malha metroferroviária de São Paulo como grafo e a comparamos com Londres e Nova York. ~15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malha é fortemente radial: praticamente todo trajeto entre regiões passa pelo centro, o que transforma Luz e Brás em gargalos. Não é small-world nem scale-free no espaço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rede resiste a falhas difusas, mas é muito vulnerável à perda simultânea de poucos hubs centrais — implicação direta para planos de contingência.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modularidade recupera regiões geográficas e mostra um gradiente de acessibilidade do centro à periferia — a conhecida concentração radial, quantificada.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Modelamos Londres e NY do mesmo modo. Validação: nosso rT bate com Derrible para SP e Londres. NY foi modelada por serviços (inflaciona redundância). Achado: SP é a única fora do regime small-world.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Custos estimados por obras análogas: metrô subterrâneo ~R$1,18 bi/km (Linha 6), monotrilho ~R$0,89 bi/km (Linha 17). A orbital 20-Rosa custaria ~R$37 bi, mas é a que mais melhora a conectividade por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work/slides_img/hero_g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0"/>
            <a:ext cx="60624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A1024">
              <a:alpha val="8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1371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DOS GRAFOS · UFABC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828800"/>
            <a:ext cx="6766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Topologia da Malha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Metroferroviária de São Paulo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611880"/>
            <a:ext cx="6309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análise via Teoria dos Grafos — e a comparação com Londres e Nova York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475488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Vitor Eduardo Silva de Carvalho   ·   Diego Naoki Sato Hanashiro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Vitor Ribeiro Pereira   ·   Joaquim Argolo Valente de Azambuja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e Redes · BC&amp;T · UFABC · 2026.Q2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estudar a malha como um grafo?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8308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 km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extensão integrada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880360" y="160020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0360" y="178308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880360" y="248716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(Metrô + CPTM)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12080" y="160020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178308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212080" y="2487168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estações em 2026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200400"/>
            <a:ext cx="6309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rede sobre trilhos do Brasil — mas raramente estudada sob a ótica formal da teoria dos grafos. Modelá-la revela onde estão os gargalos e o que mais a fortaleceria.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4160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94360" y="4617720"/>
            <a:ext cx="310896" cy="310896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617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24128" y="4590288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a malha como grafo e caracterizar sua topologia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5093208"/>
            <a:ext cx="310896" cy="310896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5093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24128" y="5065776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estações críticas e medir a robustez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5568696"/>
            <a:ext cx="310896" cy="310896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5568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5541264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São Paulo com Londres e Nova York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94360" y="6044184"/>
            <a:ext cx="310896" cy="310896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6044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24128" y="6016752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impacto da Linha 6 e de linhas futuras</a:t>
            </a:r>
            <a:endParaRPr lang="en-US" sz="1400" dirty="0"/>
          </a:p>
        </p:txBody>
      </p:sp>
      <p:pic>
        <p:nvPicPr>
          <p:cNvPr id="27" name="Image 0" descr="/tmp/work/slides_img/hero_g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1600200"/>
            <a:ext cx="4114800" cy="41148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7680960" y="57790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malhas do estudo no globo (SP, Londres, NY).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rede ao grafo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760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L — infraestrutura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Vértice = estação · Aresta = trecho direto entre estações consecutivas. Estações de baldeação viram um único vértice de grau maior.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P — experiência de viagem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estações são vizinhas se estão na mesma linha; a distância conta baldeações.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160520"/>
            <a:ext cx="269748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27024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476402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estações (N)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4160520"/>
            <a:ext cx="269748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427024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566160" y="476402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trechos (M)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5303520"/>
            <a:ext cx="269748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41324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2,15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590702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médio ⟨k⟩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29000" y="5303520"/>
            <a:ext cx="269748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541324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566160" y="590702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médio 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47688" y="1664208"/>
            <a:ext cx="5084064" cy="2615184"/>
          </a:xfrm>
          <a:prstGeom prst="roundRect">
            <a:avLst>
              <a:gd name="adj" fmla="val 2797"/>
            </a:avLst>
          </a:prstGeom>
          <a:solidFill>
            <a:srgbClr val="FCFCFB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0" descr="/tmp/work/slides_img/hero_red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20840" y="1737360"/>
            <a:ext cx="4937760" cy="24688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720840" y="43434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modelada — São Paulo, Londres e Nova York em suas coordenadas geográficas.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medimos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47672"/>
            <a:ext cx="457200" cy="457200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947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&amp; eficiência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56032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grau P(k) e eficiência global E_glob.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69164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947672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93792" y="1947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Centralidade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81144" y="256032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Intermediação e proximidade — quem são os hubs.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01584" y="169164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0184" y="1947672"/>
            <a:ext cx="457200" cy="457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70264" y="1947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357616" y="256032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Modularidade Q (Louvain) — regiões da malha.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096512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17320" y="40965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Mundo pequeno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04672" y="470916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σ vs. grafos aleatórios equivalentes.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25112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3712" y="4096512"/>
            <a:ext cx="457200" cy="45720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93792" y="40965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581144" y="470916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aleatórias vs. ataques dirigidos S(f).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01584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30184" y="4096512"/>
            <a:ext cx="457200" cy="457200"/>
          </a:xfrm>
          <a:prstGeom prst="ellipse">
            <a:avLst/>
          </a:prstGeom>
          <a:solidFill>
            <a:srgbClr val="FFCF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70264" y="40965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r_T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357616" y="470916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Derrible &amp; Kennedy = ciclos por estação.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calculado com NetworkX, de forma reprodutível (código e dados versionados).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· ESTRUTURA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Radial, dominada por Luz e Brás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81928" y="1527048"/>
            <a:ext cx="5541264" cy="3758184"/>
          </a:xfrm>
          <a:prstGeom prst="roundRect">
            <a:avLst>
              <a:gd name="adj" fmla="val 1946"/>
            </a:avLst>
          </a:prstGeom>
          <a:solidFill>
            <a:srgbClr val="FCFCFB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work/slides_img/fig_hubs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1600200"/>
            <a:ext cx="5394960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" y="1737360"/>
            <a:ext cx="128016" cy="12801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1600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livre de escala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1947672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 das estações têm grau 2; sem cauda longa.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4360" y="2788920"/>
            <a:ext cx="128016" cy="12801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6517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mundo pequeno (σ = 0,43)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2999232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espaço L — é uma rede espacial quase-planar.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" y="3840480"/>
            <a:ext cx="128016" cy="12801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7033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Luz e Brás concentram os fluxos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4050792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intermediação ≈ 0,46: quase metade dos caminhos.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" y="4892040"/>
            <a:ext cx="128016" cy="12801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4754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articulação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68680" y="5102352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estações de grau 2 (Juventus-Mooca) que isolam ramais.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· ROBUSTEZ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Frágil a ataques dirigidos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190488" y="1664208"/>
            <a:ext cx="5632704" cy="3529584"/>
          </a:xfrm>
          <a:prstGeom prst="roundRect">
            <a:avLst>
              <a:gd name="adj" fmla="val 2073"/>
            </a:avLst>
          </a:prstGeom>
          <a:solidFill>
            <a:srgbClr val="FCFCFB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work/slides_img/fig_robustez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1737360"/>
            <a:ext cx="5486400" cy="3383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3736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8288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2194560" y="187452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estações removidas por ataque (≈4 hubs) já derrubam a maior componente de 100% para 57%.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94360" y="3291840"/>
            <a:ext cx="5440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aleatória: degradação gradual (a 10% removido, ainda 56%).</a:t>
            </a:r>
            <a:endParaRPr lang="en-US" sz="14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dirigido: colapso abrupto — a 4%, a maior componente cai a 19%.</a:t>
            </a:r>
            <a:endParaRPr lang="en-US" sz="1400" dirty="0"/>
          </a:p>
          <a:p>
            <a:pPr marL="203200" indent="-2032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 integrada: 0,15 (falha) vs. 0,04 (ataque).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· TERRITÓRIO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não é homogênea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327648" y="1527048"/>
            <a:ext cx="5495544" cy="4169664"/>
          </a:xfrm>
          <a:prstGeom prst="roundRect">
            <a:avLst>
              <a:gd name="adj" fmla="val 1754"/>
            </a:avLst>
          </a:prstGeom>
          <a:solidFill>
            <a:srgbClr val="FCFCFB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work/slides_img/fig_regioes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1600200"/>
            <a:ext cx="5349240" cy="4023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9164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24688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comunidades (Louvain), Q = 0,81 — com claro sentido geográfico.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329184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2×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48640" y="4069080"/>
            <a:ext cx="5577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centro expandido (Luz, Brás, República, Barra Funda) é cerca de duas vezes mais acessível que a periferia (sul, oeste, leste).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× Londres × Nova York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75488" y="1527048"/>
            <a:ext cx="6729984" cy="3438144"/>
          </a:xfrm>
          <a:prstGeom prst="roundRect">
            <a:avLst>
              <a:gd name="adj" fmla="val 2128"/>
            </a:avLst>
          </a:prstGeom>
          <a:solidFill>
            <a:srgbClr val="FCFCFB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work/slides_img/hero_red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6583680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645920"/>
            <a:ext cx="4434840" cy="914400"/>
          </a:xfrm>
          <a:prstGeom prst="roundRect">
            <a:avLst>
              <a:gd name="adj" fmla="val 12000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43800" y="16459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0" y="164592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0,43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7360920" y="2697480"/>
            <a:ext cx="4434840" cy="914400"/>
          </a:xfrm>
          <a:prstGeom prst="roundRect">
            <a:avLst>
              <a:gd name="adj" fmla="val 12000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43800" y="26974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Londres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0" y="269748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1,86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7360920" y="3749040"/>
            <a:ext cx="4434840" cy="914400"/>
          </a:xfrm>
          <a:prstGeom prst="roundRect">
            <a:avLst>
              <a:gd name="adj" fmla="val 12000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43800" y="37490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York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601200" y="374904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3,14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48640" y="5074920"/>
            <a:ext cx="11155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é a única das três com σ &lt; 1 — a única que não é uma rede de mundo pequeno. É a mais esparsa, radial e menos redundante (rT 0,08, junto de Berlim; longe de Paris e Tóquio).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mais ajudaria a malha?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6-Laranja (radial)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+0,6%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eficiência global — ganho modesto; seu valor é de cobertura (633 mil pax/dia).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1B2540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20-Rosa (orbital)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224028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+2,1%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400800" y="30632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que o triplo — cria atalhos entre eixos que hoje só se ligam pelo centro.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109960" cy="1874520"/>
          </a:xfrm>
          <a:prstGeom prst="roundRect">
            <a:avLst>
              <a:gd name="adj" fmla="val 5854"/>
            </a:avLst>
          </a:prstGeom>
          <a:solidFill>
            <a:srgbClr val="14203A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central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44348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déficit estrutural de São Paulo não é a falta de mais raios — é a ausência de linhas circulares que interliguem os eixos radiais e aliviem o centro.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topologia revela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10996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47672"/>
            <a:ext cx="457200" cy="457200"/>
          </a:xfrm>
          <a:prstGeom prst="ellipse">
            <a:avLst/>
          </a:prstGeom>
          <a:solidFill>
            <a:srgbClr val="35D0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81051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Esparsa e radial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⟨k⟩=2,15; nem livre de escala, nem mundo pequeno no espaço 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1110996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044952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90779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Dependente de poucos hubs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669280" y="2907792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Luz e Brás concentram os fluxos; frágil a ataques dirigidos.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1110996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142232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400507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menos redundante das três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669280" y="4005072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lado de Berlim; Londres e NY são mais densas e malhadas.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11109960" cy="960120"/>
          </a:xfrm>
          <a:prstGeom prst="roundRect">
            <a:avLst>
              <a:gd name="adj" fmla="val 11429"/>
            </a:avLst>
          </a:prstGeom>
          <a:solidFill>
            <a:srgbClr val="141B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239512"/>
            <a:ext cx="457200" cy="457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5102352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salto: linhas circulares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669280" y="5102352"/>
            <a:ext cx="5852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orbital ajuda ~3× mais que novos raios.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0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work/slides_img/hero_g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0"/>
            <a:ext cx="60624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0A1024">
              <a:alpha val="9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22860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32918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5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42976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A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 3D interativa e código: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github.com/VitorCarvalho67/GrafosMetroSP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metro-sp.solveweb.com.br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6128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2026-07-30T19:05:10Z</dcterms:created>
  <dcterms:modified xsi:type="dcterms:W3CDTF">2026-07-30T19:05:10Z</dcterms:modified>
</cp:coreProperties>
</file>